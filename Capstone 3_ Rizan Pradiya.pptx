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eorgia Pro Condensed Bold" charset="1" panose="02040806050405020203"/>
      <p:regular r:id="rId22"/>
    </p:embeddedFont>
    <p:embeddedFont>
      <p:font typeface="Helvetica World" charset="1" panose="020B0500040000020004"/>
      <p:regular r:id="rId23"/>
    </p:embeddedFont>
    <p:embeddedFont>
      <p:font typeface="Georgia Pro Condensed" charset="1" panose="02040506050405020303"/>
      <p:regular r:id="rId24"/>
    </p:embeddedFont>
    <p:embeddedFont>
      <p:font typeface="Radley" charset="1" panose="00000500000000000000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6F8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24298" y="-138351"/>
            <a:ext cx="10563702" cy="10563702"/>
          </a:xfrm>
          <a:custGeom>
            <a:avLst/>
            <a:gdLst/>
            <a:ahLst/>
            <a:cxnLst/>
            <a:rect r="r" b="b" t="t" l="l"/>
            <a:pathLst>
              <a:path h="10563702" w="10563702">
                <a:moveTo>
                  <a:pt x="0" y="0"/>
                </a:moveTo>
                <a:lnTo>
                  <a:pt x="10563702" y="0"/>
                </a:lnTo>
                <a:lnTo>
                  <a:pt x="10563702" y="10563702"/>
                </a:lnTo>
                <a:lnTo>
                  <a:pt x="0" y="10563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790575"/>
            <a:ext cx="6886575" cy="391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0"/>
              </a:lnSpc>
              <a:spcBef>
                <a:spcPct val="0"/>
              </a:spcBef>
            </a:pPr>
            <a:r>
              <a:rPr lang="en-US" b="true" sz="7600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Saudi Ar</a:t>
            </a:r>
            <a:r>
              <a:rPr lang="en-US" b="true" sz="7600" strike="noStrike" u="none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a</a:t>
            </a:r>
            <a:r>
              <a:rPr lang="en-US" b="true" sz="7600" strike="noStrike" u="none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bi</a:t>
            </a:r>
            <a:r>
              <a:rPr lang="en-US" b="true" sz="7600" strike="noStrike" u="none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a </a:t>
            </a:r>
            <a:r>
              <a:rPr lang="en-US" b="true" sz="7600" strike="noStrike" u="none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Used </a:t>
            </a:r>
            <a:r>
              <a:rPr lang="en-US" b="true" sz="7600" strike="noStrike" u="none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C</a:t>
            </a:r>
            <a:r>
              <a:rPr lang="en-US" b="true" sz="7600" strike="noStrike" u="none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ar Pric</a:t>
            </a:r>
            <a:r>
              <a:rPr lang="en-US" b="true" sz="7600" strike="noStrike" u="none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e</a:t>
            </a:r>
            <a:r>
              <a:rPr lang="en-US" b="true" sz="7600" strike="noStrike" u="none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 Predi</a:t>
            </a:r>
            <a:r>
              <a:rPr lang="en-US" b="true" sz="7600" strike="noStrike" u="none">
                <a:solidFill>
                  <a:srgbClr val="2B3A6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ction</a:t>
            </a:r>
          </a:p>
          <a:p>
            <a:pPr algn="l" marL="0" indent="0" lvl="0">
              <a:lnSpc>
                <a:spcPts val="76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9197975"/>
            <a:ext cx="68865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Rizan Pradiya (JCDSJKTPM-34)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714135"/>
            <a:ext cx="6886575" cy="199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0"/>
              </a:lnSpc>
              <a:spcBef>
                <a:spcPct val="0"/>
              </a:spcBef>
            </a:pPr>
            <a:r>
              <a:rPr lang="en-US" sz="7600">
                <a:solidFill>
                  <a:srgbClr val="2B3A6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w/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Outline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908933"/>
            <a:ext cx="16029256" cy="2972817"/>
            <a:chOff x="0" y="0"/>
            <a:chExt cx="21372342" cy="396375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4072077" y="185413"/>
              <a:ext cx="1328707" cy="636707"/>
              <a:chOff x="0" y="0"/>
              <a:chExt cx="1211605" cy="58059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11605" cy="580592"/>
              </a:xfrm>
              <a:custGeom>
                <a:avLst/>
                <a:gdLst/>
                <a:ahLst/>
                <a:cxnLst/>
                <a:rect r="r" b="b" t="t" l="l"/>
                <a:pathLst>
                  <a:path h="580592" w="1211605">
                    <a:moveTo>
                      <a:pt x="1211605" y="290296"/>
                    </a:moveTo>
                    <a:lnTo>
                      <a:pt x="805205" y="0"/>
                    </a:lnTo>
                    <a:lnTo>
                      <a:pt x="805205" y="203200"/>
                    </a:lnTo>
                    <a:lnTo>
                      <a:pt x="0" y="203200"/>
                    </a:lnTo>
                    <a:lnTo>
                      <a:pt x="0" y="377392"/>
                    </a:lnTo>
                    <a:lnTo>
                      <a:pt x="805205" y="377392"/>
                    </a:lnTo>
                    <a:lnTo>
                      <a:pt x="805205" y="580592"/>
                    </a:lnTo>
                    <a:lnTo>
                      <a:pt x="1211605" y="29029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55575"/>
                <a:ext cx="1110005" cy="2218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40123"/>
              <a:ext cx="3617317" cy="7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545454"/>
                  </a:solidFill>
                  <a:latin typeface="Radley"/>
                  <a:ea typeface="Radley"/>
                  <a:cs typeface="Radley"/>
                  <a:sym typeface="Radley"/>
                </a:rPr>
                <a:t>Background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857983" y="140123"/>
              <a:ext cx="9511209" cy="7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545454"/>
                  </a:solidFill>
                  <a:latin typeface="Radley"/>
                  <a:ea typeface="Radley"/>
                  <a:cs typeface="Radley"/>
                  <a:sym typeface="Radley"/>
                </a:rPr>
                <a:t>Data Understanding &amp; Cleaning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7612298" y="38100"/>
              <a:ext cx="1782266" cy="969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545454"/>
                  </a:solidFill>
                  <a:latin typeface="Radley"/>
                  <a:ea typeface="Radley"/>
                  <a:cs typeface="Radley"/>
                  <a:sym typeface="Radley"/>
                </a:rPr>
                <a:t>EDA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634521" y="2740330"/>
              <a:ext cx="5737820" cy="7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545454"/>
                  </a:solidFill>
                  <a:latin typeface="Radley"/>
                  <a:ea typeface="Radley"/>
                  <a:cs typeface="Radley"/>
                  <a:sym typeface="Radley"/>
                </a:rPr>
                <a:t>Data Preprocessing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469968" y="2449070"/>
              <a:ext cx="5281513" cy="15146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999">
                  <a:solidFill>
                    <a:srgbClr val="545454"/>
                  </a:solidFill>
                  <a:latin typeface="Radley"/>
                  <a:ea typeface="Radley"/>
                  <a:cs typeface="Radley"/>
                  <a:sym typeface="Radley"/>
                </a:rPr>
                <a:t>Conclusion &amp; 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545454"/>
                  </a:solidFill>
                  <a:latin typeface="Radley"/>
                  <a:ea typeface="Radley"/>
                  <a:cs typeface="Radley"/>
                  <a:sym typeface="Radley"/>
                </a:rPr>
                <a:t>Recommendation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613587" y="2740330"/>
              <a:ext cx="2840137" cy="7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545454"/>
                  </a:solidFill>
                  <a:latin typeface="Radley"/>
                  <a:ea typeface="Radley"/>
                  <a:cs typeface="Radley"/>
                  <a:sym typeface="Radley"/>
                </a:rPr>
                <a:t>Modeling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5826392" y="102023"/>
              <a:ext cx="1328707" cy="636707"/>
              <a:chOff x="0" y="0"/>
              <a:chExt cx="1211605" cy="58059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11605" cy="580592"/>
              </a:xfrm>
              <a:custGeom>
                <a:avLst/>
                <a:gdLst/>
                <a:ahLst/>
                <a:cxnLst/>
                <a:rect r="r" b="b" t="t" l="l"/>
                <a:pathLst>
                  <a:path h="580592" w="1211605">
                    <a:moveTo>
                      <a:pt x="1211605" y="290296"/>
                    </a:moveTo>
                    <a:lnTo>
                      <a:pt x="805205" y="0"/>
                    </a:lnTo>
                    <a:lnTo>
                      <a:pt x="805205" y="203200"/>
                    </a:lnTo>
                    <a:lnTo>
                      <a:pt x="0" y="203200"/>
                    </a:lnTo>
                    <a:lnTo>
                      <a:pt x="0" y="377392"/>
                    </a:lnTo>
                    <a:lnTo>
                      <a:pt x="805205" y="377392"/>
                    </a:lnTo>
                    <a:lnTo>
                      <a:pt x="805205" y="580592"/>
                    </a:lnTo>
                    <a:lnTo>
                      <a:pt x="1211605" y="29029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55575"/>
                <a:ext cx="1110005" cy="2218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5400000">
              <a:off x="17839078" y="1353533"/>
              <a:ext cx="1328707" cy="636707"/>
              <a:chOff x="0" y="0"/>
              <a:chExt cx="1211605" cy="58059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11605" cy="580592"/>
              </a:xfrm>
              <a:custGeom>
                <a:avLst/>
                <a:gdLst/>
                <a:ahLst/>
                <a:cxnLst/>
                <a:rect r="r" b="b" t="t" l="l"/>
                <a:pathLst>
                  <a:path h="580592" w="1211605">
                    <a:moveTo>
                      <a:pt x="1211605" y="290296"/>
                    </a:moveTo>
                    <a:lnTo>
                      <a:pt x="805205" y="0"/>
                    </a:lnTo>
                    <a:lnTo>
                      <a:pt x="805205" y="203200"/>
                    </a:lnTo>
                    <a:lnTo>
                      <a:pt x="0" y="203200"/>
                    </a:lnTo>
                    <a:lnTo>
                      <a:pt x="0" y="377392"/>
                    </a:lnTo>
                    <a:lnTo>
                      <a:pt x="805205" y="377392"/>
                    </a:lnTo>
                    <a:lnTo>
                      <a:pt x="805205" y="580592"/>
                    </a:lnTo>
                    <a:lnTo>
                      <a:pt x="1211605" y="29029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55575"/>
                <a:ext cx="1110005" cy="2218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-10800000">
              <a:off x="14040485" y="2785620"/>
              <a:ext cx="1328707" cy="636707"/>
              <a:chOff x="0" y="0"/>
              <a:chExt cx="1211605" cy="58059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11605" cy="580592"/>
              </a:xfrm>
              <a:custGeom>
                <a:avLst/>
                <a:gdLst/>
                <a:ahLst/>
                <a:cxnLst/>
                <a:rect r="r" b="b" t="t" l="l"/>
                <a:pathLst>
                  <a:path h="580592" w="1211605">
                    <a:moveTo>
                      <a:pt x="1211605" y="290296"/>
                    </a:moveTo>
                    <a:lnTo>
                      <a:pt x="805205" y="0"/>
                    </a:lnTo>
                    <a:lnTo>
                      <a:pt x="805205" y="203200"/>
                    </a:lnTo>
                    <a:lnTo>
                      <a:pt x="0" y="203200"/>
                    </a:lnTo>
                    <a:lnTo>
                      <a:pt x="0" y="377392"/>
                    </a:lnTo>
                    <a:lnTo>
                      <a:pt x="805205" y="377392"/>
                    </a:lnTo>
                    <a:lnTo>
                      <a:pt x="805205" y="580592"/>
                    </a:lnTo>
                    <a:lnTo>
                      <a:pt x="1211605" y="29029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155575"/>
                <a:ext cx="1110005" cy="2218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-10800000">
              <a:off x="9018181" y="2869010"/>
              <a:ext cx="1328707" cy="636707"/>
              <a:chOff x="0" y="0"/>
              <a:chExt cx="1211605" cy="58059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11605" cy="580592"/>
              </a:xfrm>
              <a:custGeom>
                <a:avLst/>
                <a:gdLst/>
                <a:ahLst/>
                <a:cxnLst/>
                <a:rect r="r" b="b" t="t" l="l"/>
                <a:pathLst>
                  <a:path h="580592" w="1211605">
                    <a:moveTo>
                      <a:pt x="1211605" y="290296"/>
                    </a:moveTo>
                    <a:lnTo>
                      <a:pt x="805205" y="0"/>
                    </a:lnTo>
                    <a:lnTo>
                      <a:pt x="805205" y="203200"/>
                    </a:lnTo>
                    <a:lnTo>
                      <a:pt x="0" y="203200"/>
                    </a:lnTo>
                    <a:lnTo>
                      <a:pt x="0" y="377392"/>
                    </a:lnTo>
                    <a:lnTo>
                      <a:pt x="805205" y="377392"/>
                    </a:lnTo>
                    <a:lnTo>
                      <a:pt x="805205" y="580592"/>
                    </a:lnTo>
                    <a:lnTo>
                      <a:pt x="1211605" y="29029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55575"/>
                <a:ext cx="1110005" cy="2218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Background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9174" y="2547968"/>
            <a:ext cx="17509652" cy="692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548" indent="-301774" lvl="1">
              <a:lnSpc>
                <a:spcPts val="3913"/>
              </a:lnSpc>
              <a:buFont typeface="Arial"/>
              <a:buChar char="•"/>
            </a:pPr>
            <a:r>
              <a:rPr lang="en-US" b="true" sz="2795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Background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Pasar mobil bekas di </a:t>
            </a:r>
            <a:r>
              <a:rPr lang="en-US" sz="2795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Arab Saudi berkembang pesat, namun penentuan harga masih sangat bergantung pada subjektivitas penjual meskipun spesifikasi kendaraan bervariasi.</a:t>
            </a:r>
          </a:p>
          <a:p>
            <a:pPr algn="l" marL="603548" indent="-301774" lvl="1">
              <a:lnSpc>
                <a:spcPts val="3913"/>
              </a:lnSpc>
              <a:buFont typeface="Arial"/>
              <a:buChar char="•"/>
            </a:pPr>
            <a:r>
              <a:rPr lang="en-US" b="true" sz="2795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Tidak adanya acuan harga yang objektif menyebabkan risiko overpricing dan underpricing, serta menyulitkan pembeli menilai kewajaran harga.</a:t>
            </a:r>
          </a:p>
          <a:p>
            <a:pPr algn="l" marL="603548" indent="-301774" lvl="1">
              <a:lnSpc>
                <a:spcPts val="3913"/>
              </a:lnSpc>
              <a:buFont typeface="Arial"/>
              <a:buChar char="•"/>
            </a:pPr>
            <a:r>
              <a:rPr lang="en-US" b="true" sz="2795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Menyediakan estimasi harga mobil bekas yang objektif dan konsisten melalui pendekatan berbasis data.</a:t>
            </a:r>
          </a:p>
          <a:p>
            <a:pPr algn="l" marL="603548" indent="-301774" lvl="1">
              <a:lnSpc>
                <a:spcPts val="3913"/>
              </a:lnSpc>
              <a:buFont typeface="Arial"/>
              <a:buChar char="•"/>
            </a:pPr>
            <a:r>
              <a:rPr lang="en-US" b="true" sz="2795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Approach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Analisis data dan pembangunan model regresi untuk memprediksi harga berdasarkan karakteristik kendaraan.</a:t>
            </a:r>
          </a:p>
          <a:p>
            <a:pPr algn="l" marL="603548" indent="-301774" lvl="1">
              <a:lnSpc>
                <a:spcPts val="3913"/>
              </a:lnSpc>
              <a:buFont typeface="Arial"/>
              <a:buChar char="•"/>
            </a:pPr>
            <a:r>
              <a:rPr lang="en-US" b="true" sz="2795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Evaluasi model menggunakan RMSE, MAE, dan MAPE.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Data Understanding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3892" y="2324823"/>
            <a:ext cx="15496883" cy="6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berisi 5,624 d</a:t>
            </a: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ata d</a:t>
            </a: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engan fitur: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Jenis mobil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Region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Wilayah penjualan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Make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Merek mobil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Gear_Type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Jenis transmisi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Origin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Asal mobil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Options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Pilihan fitur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</a:t>
            </a: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Tahun pembuatan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Engine_Size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Ukuran mesin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Mileage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Jarak tempuh</a:t>
            </a:r>
          </a:p>
          <a:p>
            <a:pPr algn="just" marL="651737" indent="-325869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Price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Harga (target)</a:t>
            </a:r>
          </a:p>
          <a:p>
            <a:pPr algn="just">
              <a:lnSpc>
                <a:spcPts val="4226"/>
              </a:lnSpc>
            </a:pPr>
          </a:p>
          <a:p>
            <a:pPr algn="just">
              <a:lnSpc>
                <a:spcPts val="4226"/>
              </a:lnSpc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Source: https://www.kaggle.com/datasets/raihanmuhith/saudi-arabia-used-car/data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Data Cleaning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3892" y="2324823"/>
            <a:ext cx="8089553" cy="211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Cek missing value</a:t>
            </a:r>
          </a:p>
          <a:p>
            <a:pPr algn="just">
              <a:lnSpc>
                <a:spcPts val="4226"/>
              </a:lnSpc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Tidak diteukan missing value.</a:t>
            </a:r>
          </a:p>
          <a:p>
            <a:pPr algn="just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Cek duplikat data</a:t>
            </a:r>
          </a:p>
          <a:p>
            <a:pPr algn="just">
              <a:lnSpc>
                <a:spcPts val="4226"/>
              </a:lnSpc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Ditemukan 4 data duplikat, sehingga didrop.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21290" y="2656225"/>
            <a:ext cx="10431225" cy="5950984"/>
          </a:xfrm>
          <a:custGeom>
            <a:avLst/>
            <a:gdLst/>
            <a:ahLst/>
            <a:cxnLst/>
            <a:rect r="r" b="b" t="t" l="l"/>
            <a:pathLst>
              <a:path h="5950984" w="10431225">
                <a:moveTo>
                  <a:pt x="0" y="0"/>
                </a:moveTo>
                <a:lnTo>
                  <a:pt x="10431225" y="0"/>
                </a:lnTo>
                <a:lnTo>
                  <a:pt x="10431225" y="5950984"/>
                </a:lnTo>
                <a:lnTo>
                  <a:pt x="0" y="5950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Exploratory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32668" y="3150461"/>
            <a:ext cx="6980858" cy="446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4198" indent="-272099" lvl="1">
              <a:lnSpc>
                <a:spcPts val="3528"/>
              </a:lnSpc>
              <a:buFont typeface="Arial"/>
              <a:buChar char="•"/>
            </a:pPr>
            <a:r>
              <a:rPr lang="en-US" b="true" sz="252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Year</a:t>
            </a:r>
            <a:r>
              <a:rPr lang="en-US" sz="252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just">
              <a:lnSpc>
                <a:spcPts val="3528"/>
              </a:lnSpc>
            </a:pPr>
            <a:r>
              <a:rPr lang="en-US" sz="252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Mayoritas mobil tahun (≥2010).</a:t>
            </a:r>
          </a:p>
          <a:p>
            <a:pPr algn="just" marL="544198" indent="-272099" lvl="1">
              <a:lnSpc>
                <a:spcPts val="3528"/>
              </a:lnSpc>
              <a:buFont typeface="Arial"/>
              <a:buChar char="•"/>
            </a:pPr>
            <a:r>
              <a:rPr lang="en-US" b="true" sz="252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Engine_Size</a:t>
            </a:r>
            <a:r>
              <a:rPr lang="en-US" sz="252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just">
              <a:lnSpc>
                <a:spcPts val="3528"/>
              </a:lnSpc>
            </a:pPr>
            <a:r>
              <a:rPr lang="en-US" sz="252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Sebagian besar mesin kecil hingga menengah.</a:t>
            </a:r>
          </a:p>
          <a:p>
            <a:pPr algn="just" marL="544198" indent="-272099" lvl="1">
              <a:lnSpc>
                <a:spcPts val="3528"/>
              </a:lnSpc>
              <a:buFont typeface="Arial"/>
              <a:buChar char="•"/>
            </a:pPr>
            <a:r>
              <a:rPr lang="en-US" b="true" sz="252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Mileage</a:t>
            </a:r>
            <a:r>
              <a:rPr lang="en-US" sz="252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just">
              <a:lnSpc>
                <a:spcPts val="3528"/>
              </a:lnSpc>
            </a:pPr>
            <a:r>
              <a:rPr lang="en-US" sz="252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Distribusi condong ke kanan.</a:t>
            </a:r>
          </a:p>
          <a:p>
            <a:pPr algn="just" marL="544198" indent="-272099" lvl="1">
              <a:lnSpc>
                <a:spcPts val="3528"/>
              </a:lnSpc>
              <a:buFont typeface="Arial"/>
              <a:buChar char="•"/>
            </a:pPr>
            <a:r>
              <a:rPr lang="en-US" b="true" sz="252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Price</a:t>
            </a:r>
            <a:r>
              <a:rPr lang="en-US" sz="252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just">
              <a:lnSpc>
                <a:spcPts val="3528"/>
              </a:lnSpc>
            </a:pPr>
            <a:r>
              <a:rPr lang="en-US" sz="252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Harga tidak merata dan </a:t>
            </a:r>
          </a:p>
          <a:p>
            <a:pPr algn="just">
              <a:lnSpc>
                <a:spcPts val="3528"/>
              </a:lnSpc>
            </a:pPr>
            <a:r>
              <a:rPr lang="en-US" sz="252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didominasi rentang harga menengah.</a:t>
            </a:r>
          </a:p>
          <a:p>
            <a:pPr algn="just">
              <a:lnSpc>
                <a:spcPts val="352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3892" y="3207611"/>
            <a:ext cx="7285146" cy="6512082"/>
          </a:xfrm>
          <a:custGeom>
            <a:avLst/>
            <a:gdLst/>
            <a:ahLst/>
            <a:cxnLst/>
            <a:rect r="r" b="b" t="t" l="l"/>
            <a:pathLst>
              <a:path h="6512082" w="7285146">
                <a:moveTo>
                  <a:pt x="0" y="0"/>
                </a:moveTo>
                <a:lnTo>
                  <a:pt x="7285146" y="0"/>
                </a:lnTo>
                <a:lnTo>
                  <a:pt x="7285146" y="6512082"/>
                </a:lnTo>
                <a:lnTo>
                  <a:pt x="0" y="6512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Data Preprocessing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892" y="2324823"/>
            <a:ext cx="3039219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Outlier handling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77235" y="4204754"/>
            <a:ext cx="9066609" cy="143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8"/>
              </a:lnSpc>
            </a:pPr>
            <a:r>
              <a:rPr lang="en-US" sz="2784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Metode IQR</a:t>
            </a:r>
          </a:p>
          <a:p>
            <a:pPr algn="just">
              <a:lnSpc>
                <a:spcPts val="3898"/>
              </a:lnSpc>
            </a:pPr>
            <a:r>
              <a:rPr lang="en-US" sz="2784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Dengan metode IQR terhadap fitur Price dan Mileage </a:t>
            </a:r>
          </a:p>
          <a:p>
            <a:pPr algn="just">
              <a:lnSpc>
                <a:spcPts val="3898"/>
              </a:lnSpc>
            </a:pPr>
            <a:r>
              <a:rPr lang="en-US" sz="2784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agar menghindari bias terhdap model nanti.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4178" y="3751203"/>
            <a:ext cx="7959537" cy="4424127"/>
          </a:xfrm>
          <a:custGeom>
            <a:avLst/>
            <a:gdLst/>
            <a:ahLst/>
            <a:cxnLst/>
            <a:rect r="r" b="b" t="t" l="l"/>
            <a:pathLst>
              <a:path h="4424127" w="7959537">
                <a:moveTo>
                  <a:pt x="0" y="0"/>
                </a:moveTo>
                <a:lnTo>
                  <a:pt x="7959537" y="0"/>
                </a:lnTo>
                <a:lnTo>
                  <a:pt x="7959537" y="4424127"/>
                </a:lnTo>
                <a:lnTo>
                  <a:pt x="0" y="4424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3751203"/>
            <a:ext cx="8191600" cy="4586758"/>
          </a:xfrm>
          <a:custGeom>
            <a:avLst/>
            <a:gdLst/>
            <a:ahLst/>
            <a:cxnLst/>
            <a:rect r="r" b="b" t="t" l="l"/>
            <a:pathLst>
              <a:path h="4586758" w="8191600">
                <a:moveTo>
                  <a:pt x="0" y="0"/>
                </a:moveTo>
                <a:lnTo>
                  <a:pt x="8191600" y="0"/>
                </a:lnTo>
                <a:lnTo>
                  <a:pt x="8191600" y="4586757"/>
                </a:lnTo>
                <a:lnTo>
                  <a:pt x="0" y="4586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Data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3892" y="2324823"/>
            <a:ext cx="10286" cy="51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791178" y="2792519"/>
            <a:ext cx="2255565" cy="46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8"/>
              </a:lnSpc>
            </a:pPr>
            <a:r>
              <a:rPr lang="en-US" sz="2784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Fitur Mileage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12018" y="2792519"/>
            <a:ext cx="1788691" cy="46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8"/>
              </a:lnSpc>
            </a:pPr>
            <a:r>
              <a:rPr lang="en-US" sz="2784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Fitur Price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3892" y="3263613"/>
            <a:ext cx="8488419" cy="1468267"/>
          </a:xfrm>
          <a:custGeom>
            <a:avLst/>
            <a:gdLst/>
            <a:ahLst/>
            <a:cxnLst/>
            <a:rect r="r" b="b" t="t" l="l"/>
            <a:pathLst>
              <a:path h="1468267" w="8488419">
                <a:moveTo>
                  <a:pt x="0" y="0"/>
                </a:moveTo>
                <a:lnTo>
                  <a:pt x="8488420" y="0"/>
                </a:lnTo>
                <a:lnTo>
                  <a:pt x="8488420" y="1468268"/>
                </a:lnTo>
                <a:lnTo>
                  <a:pt x="0" y="1468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2942" y="6781521"/>
            <a:ext cx="9470595" cy="2476779"/>
          </a:xfrm>
          <a:custGeom>
            <a:avLst/>
            <a:gdLst/>
            <a:ahLst/>
            <a:cxnLst/>
            <a:rect r="r" b="b" t="t" l="l"/>
            <a:pathLst>
              <a:path h="2476779" w="9470595">
                <a:moveTo>
                  <a:pt x="0" y="0"/>
                </a:moveTo>
                <a:lnTo>
                  <a:pt x="9470595" y="0"/>
                </a:lnTo>
                <a:lnTo>
                  <a:pt x="9470595" y="2476779"/>
                </a:lnTo>
                <a:lnTo>
                  <a:pt x="0" y="2476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Modeling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3892" y="2324823"/>
            <a:ext cx="1745084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Encoding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1951" y="5370056"/>
            <a:ext cx="1848966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Split Data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3892" y="3228534"/>
            <a:ext cx="13046251" cy="2892720"/>
          </a:xfrm>
          <a:custGeom>
            <a:avLst/>
            <a:gdLst/>
            <a:ahLst/>
            <a:cxnLst/>
            <a:rect r="r" b="b" t="t" l="l"/>
            <a:pathLst>
              <a:path h="2892720" w="13046251">
                <a:moveTo>
                  <a:pt x="0" y="0"/>
                </a:moveTo>
                <a:lnTo>
                  <a:pt x="13046252" y="0"/>
                </a:lnTo>
                <a:lnTo>
                  <a:pt x="13046252" y="2892720"/>
                </a:lnTo>
                <a:lnTo>
                  <a:pt x="0" y="289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Modeling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892" y="2324823"/>
            <a:ext cx="3507507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Benchmark Model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588517"/>
            <a:ext cx="3398713" cy="158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Model 2 terbaik:</a:t>
            </a:r>
          </a:p>
          <a:p>
            <a:pPr algn="just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RandomForest</a:t>
            </a:r>
          </a:p>
          <a:p>
            <a:pPr algn="just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b="true" sz="3018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3892" y="3315689"/>
            <a:ext cx="11348119" cy="2450637"/>
          </a:xfrm>
          <a:custGeom>
            <a:avLst/>
            <a:gdLst/>
            <a:ahLst/>
            <a:cxnLst/>
            <a:rect r="r" b="b" t="t" l="l"/>
            <a:pathLst>
              <a:path h="2450637" w="11348119">
                <a:moveTo>
                  <a:pt x="0" y="0"/>
                </a:moveTo>
                <a:lnTo>
                  <a:pt x="11348120" y="0"/>
                </a:lnTo>
                <a:lnTo>
                  <a:pt x="11348120" y="2450636"/>
                </a:lnTo>
                <a:lnTo>
                  <a:pt x="0" y="2450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Modeling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892" y="2324823"/>
            <a:ext cx="2617887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Perbandingan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588517"/>
            <a:ext cx="9265816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Didapat model </a:t>
            </a: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 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merupakan model terbai</a:t>
            </a: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3892" y="4089415"/>
            <a:ext cx="6586564" cy="1305533"/>
          </a:xfrm>
          <a:custGeom>
            <a:avLst/>
            <a:gdLst/>
            <a:ahLst/>
            <a:cxnLst/>
            <a:rect r="r" b="b" t="t" l="l"/>
            <a:pathLst>
              <a:path h="1305533" w="6586564">
                <a:moveTo>
                  <a:pt x="0" y="0"/>
                </a:moveTo>
                <a:lnTo>
                  <a:pt x="6586564" y="0"/>
                </a:lnTo>
                <a:lnTo>
                  <a:pt x="6586564" y="1305534"/>
                </a:lnTo>
                <a:lnTo>
                  <a:pt x="0" y="130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3892" y="6651774"/>
            <a:ext cx="6586564" cy="1202848"/>
          </a:xfrm>
          <a:custGeom>
            <a:avLst/>
            <a:gdLst/>
            <a:ahLst/>
            <a:cxnLst/>
            <a:rect r="r" b="b" t="t" l="l"/>
            <a:pathLst>
              <a:path h="1202848" w="6586564">
                <a:moveTo>
                  <a:pt x="0" y="0"/>
                </a:moveTo>
                <a:lnTo>
                  <a:pt x="6586564" y="0"/>
                </a:lnTo>
                <a:lnTo>
                  <a:pt x="6586564" y="1202848"/>
                </a:lnTo>
                <a:lnTo>
                  <a:pt x="0" y="1202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Modeling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3892" y="2324823"/>
            <a:ext cx="4495577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Hyperparameter Tuning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3892" y="8492797"/>
            <a:ext cx="9785524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Setelah tuning tidak terlalu signifikan perubahannya..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892" y="3178544"/>
            <a:ext cx="2271564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Sebelum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3892" y="5737849"/>
            <a:ext cx="2229669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Sesudah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3892" y="3204353"/>
            <a:ext cx="10409893" cy="6210149"/>
          </a:xfrm>
          <a:custGeom>
            <a:avLst/>
            <a:gdLst/>
            <a:ahLst/>
            <a:cxnLst/>
            <a:rect r="r" b="b" t="t" l="l"/>
            <a:pathLst>
              <a:path h="6210149" w="10409893">
                <a:moveTo>
                  <a:pt x="0" y="0"/>
                </a:moveTo>
                <a:lnTo>
                  <a:pt x="10409893" y="0"/>
                </a:lnTo>
                <a:lnTo>
                  <a:pt x="10409893" y="6210149"/>
                </a:lnTo>
                <a:lnTo>
                  <a:pt x="0" y="6210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Modeling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892" y="2324823"/>
            <a:ext cx="3918570" cy="51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Importances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50808" y="4728753"/>
            <a:ext cx="5901643" cy="158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6"/>
              </a:lnSpc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Fitur Year dan Engine_Size</a:t>
            </a:r>
          </a:p>
          <a:p>
            <a:pPr algn="l">
              <a:lnSpc>
                <a:spcPts val="4226"/>
              </a:lnSpc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merupakan fitur yang paling memengaruhi model.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2045" y="2274151"/>
            <a:ext cx="15363015" cy="53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Berdasarkan analisis, fitur Year memiliki korelasi positif, artinya mobil lebih baru cendrung lebih mahal. Dan fitur Engine_Size memiliki korelasi positif, artinya mesin besar sedikit lebih mahal.</a:t>
            </a:r>
          </a:p>
          <a:p>
            <a:pPr algn="l">
              <a:lnSpc>
                <a:spcPts val="4226"/>
              </a:lnSpc>
            </a:pPr>
          </a:p>
          <a:p>
            <a:pPr algn="l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Berdasarkan pemodelan, fitur Year dan Engine_Size menjadi fitur yang paling berpengaruh terhadap Price. Dan berdasarkan performanya setelah dilakukan hyperparameter tuning, bisa meningkatkan sangat kecil performa model tersebut.</a:t>
            </a:r>
          </a:p>
          <a:p>
            <a:pPr algn="l">
              <a:lnSpc>
                <a:spcPts val="4226"/>
              </a:lnSpc>
            </a:pPr>
          </a:p>
          <a:p>
            <a:pPr algn="l">
              <a:lnSpc>
                <a:spcPts val="422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686983"/>
            <a:chOff x="0" y="0"/>
            <a:chExt cx="4816593" cy="444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44308"/>
            </a:xfrm>
            <a:custGeom>
              <a:avLst/>
              <a:gdLst/>
              <a:ahLst/>
              <a:cxnLst/>
              <a:rect r="r" b="b" t="t" l="l"/>
              <a:pathLst>
                <a:path h="4443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4308"/>
                  </a:lnTo>
                  <a:lnTo>
                    <a:pt x="0" y="444308"/>
                  </a:lnTo>
                  <a:close/>
                </a:path>
              </a:pathLst>
            </a:custGeom>
            <a:solidFill>
              <a:srgbClr val="0D47A1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491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1290" y="369781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Recommendation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2045" y="2274151"/>
            <a:ext cx="15363015" cy="63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Rekomendasi Bisnis</a:t>
            </a:r>
          </a:p>
          <a:p>
            <a:pPr algn="l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Prioritaskan usia kendaraan sebagai faktor utama penentuan harga.</a:t>
            </a:r>
          </a:p>
          <a:p>
            <a:pPr algn="l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unakan Engine Size sebagai diferensiasi nilai produk.</a:t>
            </a:r>
          </a:p>
          <a:p>
            <a:pPr algn="l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Optimalkan stok dengan kombinasi mobil baru dan spesifikasi mesin un</a:t>
            </a: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ggulan.</a:t>
            </a:r>
          </a:p>
          <a:p>
            <a:pPr algn="l">
              <a:lnSpc>
                <a:spcPts val="4226"/>
              </a:lnSpc>
            </a:pPr>
          </a:p>
          <a:p>
            <a:pPr algn="l">
              <a:lnSpc>
                <a:spcPts val="4226"/>
              </a:lnSpc>
            </a:pPr>
            <a:r>
              <a:rPr lang="en-US" sz="3018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Rekomendasi Model</a:t>
            </a:r>
          </a:p>
          <a:p>
            <a:pPr algn="l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Perkaya data agar variasi harga dapat tertangkap lebih baik.</a:t>
            </a:r>
          </a:p>
          <a:p>
            <a:pPr algn="l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Tambahkan fitur kondisi kendaraan untuk meningkatkan akurasi.</a:t>
            </a:r>
          </a:p>
          <a:p>
            <a:pPr algn="l" marL="651737" indent="-325868" lvl="1">
              <a:lnSpc>
                <a:spcPts val="4226"/>
              </a:lnSpc>
              <a:buFont typeface="Arial"/>
              <a:buChar char="•"/>
            </a:pPr>
            <a:r>
              <a:rPr lang="en-US" sz="3018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Coba pendekatan model lain atau ensemble untuk performa optimal.</a:t>
            </a:r>
          </a:p>
          <a:p>
            <a:pPr algn="l">
              <a:lnSpc>
                <a:spcPts val="4226"/>
              </a:lnSpc>
            </a:pPr>
          </a:p>
          <a:p>
            <a:pPr algn="l">
              <a:lnSpc>
                <a:spcPts val="4226"/>
              </a:lnSpc>
            </a:pPr>
          </a:p>
          <a:p>
            <a:pPr algn="l">
              <a:lnSpc>
                <a:spcPts val="4226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54431"/>
            <a:ext cx="18288000" cy="10232569"/>
            <a:chOff x="0" y="0"/>
            <a:chExt cx="4816593" cy="2694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94998"/>
            </a:xfrm>
            <a:custGeom>
              <a:avLst/>
              <a:gdLst/>
              <a:ahLst/>
              <a:cxnLst/>
              <a:rect r="r" b="b" t="t" l="l"/>
              <a:pathLst>
                <a:path h="2694998" w="481659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2687801"/>
                  </a:lnTo>
                  <a:cubicBezTo>
                    <a:pt x="4816592" y="2691776"/>
                    <a:pt x="4813371" y="2694998"/>
                    <a:pt x="4809396" y="2694998"/>
                  </a:cubicBezTo>
                  <a:lnTo>
                    <a:pt x="7197" y="2694998"/>
                  </a:lnTo>
                  <a:cubicBezTo>
                    <a:pt x="3222" y="2694998"/>
                    <a:pt x="0" y="2691776"/>
                    <a:pt x="0" y="2687801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8E2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42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19362" y="4496028"/>
            <a:ext cx="13249275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99"/>
              </a:lnSpc>
              <a:spcBef>
                <a:spcPct val="0"/>
              </a:spcBef>
            </a:pPr>
            <a:r>
              <a:rPr lang="en-US" sz="9999">
                <a:solidFill>
                  <a:srgbClr val="0D47A1"/>
                </a:solidFill>
                <a:latin typeface="Radley"/>
                <a:ea typeface="Radley"/>
                <a:cs typeface="Radley"/>
                <a:sym typeface="Radley"/>
              </a:rPr>
              <a:t>Terima Kasih!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DAG7xo6iyMg</dc:identifier>
  <dcterms:modified xsi:type="dcterms:W3CDTF">2011-08-01T06:04:30Z</dcterms:modified>
  <cp:revision>1</cp:revision>
  <dc:title>Saudi Arabia Used Car Price Prediction</dc:title>
</cp:coreProperties>
</file>